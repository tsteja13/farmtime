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everyone. Today I am presenting Farmtime, a digital agro-companion app. Built from the combined perspective of an agricultural officer, farmer, and senior app developer, our goal is to make plant diagnostics accessible, organic, and highly scalable.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look at Slide 2: our technology stack. We are using standard React-Vite with Vanilla CSS. The absolute core of our disease scanner is the Gemini Multimodal Vision API. By leveraging Google's Gemini 1.5 Flash vision capability, the app acts as a real-time agricultural officer, inspecting leaf spots visually, and returning highly detailed diagnostics without massive client-side file downloads.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looking at Slide 3, we have the app overview. When a farmer launches Farmtime, they are greeted by a personalized dashboard that displays live dynamic weather alerts and agricultural recommendations. Notice the mock interface on the right. The UI uses glassmorphism and has a sidebar to seamlessly navigate between the Scanner, AI Chatbot, Mandi Prices, and Soil Health cards.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 Slide 4: how to scan and detect crop diseases. The workflow is designed for maximum simplicity. A farmer chooses the crop type, captures the photo using their smartphone camera, and hits scan. The system immediately visualizes pigment breakdowns on a spectroscopic bar chart and calls the Gemini Vision model. It spots fungal or necrotic cells, as shown on the leaf photo on the left, and delivers natural treatments.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discuss Slide 5: Krishi Mitra and Soil Health. Beyond scanners, farmers need answers about soil card tests. The Soil Health page acts as a digital advisor, checking Nitrogen, Potassium, Phosphorus, and pH values. If the Nitrogen is low, the app suggests exact organic remedies like planting leguminous cover crops or vermicomposting, rather than relying blindly on commercial urea. In parallel, Krishi Mitra chatbot provides instant recipes via chat.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on Slide 6, we address the economics and schedules of farming. Farmtime simulates regional APMC Mandi rates and includes price trends. The Revenue Estimator lets farmers input their quantity in quintals to see estimates, offering notes on whether to hold or sell. Alongside this, the Sowing Calendar tracks Kharif, Rabi, and Zaid schedules with dynamic crop guidelines.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Slide 7 details our organic ZBNF recipes and deployment status. The app contains exact measurements for preparations like Jeevamrutha. From an engineering standpoint, the codebase is clean, well-tested, and pushed to the repository TsTeja13/farmtime on the main branch, fully optimized for immediate Vercel deployment.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62895" cy="2743200"/>
          </a:xfrm>
          <a:prstGeom prst="rect">
            <a:avLst/>
          </a:prstGeom>
          <a:noFill/>
        </p:spPr>
        <p:txBody>
          <a:bodyPr wrap="square">
            <a:spAutoFit/>
          </a:bodyPr>
          <a:lstStyle/>
          <a:p>
            <a:pPr algn="l">
              <a:defRPr sz="6400" b="1">
                <a:solidFill>
                  <a:srgbClr val="10B981"/>
                </a:solidFill>
                <a:latin typeface="Outfit"/>
              </a:defRPr>
            </a:pPr>
            <a:r>
              <a:t>FARMTIME</a:t>
            </a:r>
          </a:p>
          <a:p>
            <a:pPr algn="l">
              <a:defRPr sz="2800">
                <a:solidFill>
                  <a:srgbClr val="FFFFFF"/>
                </a:solidFill>
                <a:latin typeface="Inter"/>
              </a:defRPr>
            </a:pPr>
            <a:r>
              <a:t>AI-Powered Sustainable Farming Companion</a:t>
            </a:r>
          </a:p>
          <a:p>
            <a:pPr algn="l">
              <a:defRPr sz="1600">
                <a:solidFill>
                  <a:srgbClr val="10B981"/>
                </a:solidFill>
                <a:latin typeface="Inter"/>
              </a:defRPr>
            </a:pPr>
            <a:r>
              <a:t>Empowering Farmers through Gemini Multimodal Vision &amp; ZBNF Solutions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548640"/>
            <a:ext cx="10362895" cy="914400"/>
          </a:xfrm>
          <a:prstGeom prst="rect">
            <a:avLst/>
          </a:prstGeom>
          <a:noFill/>
        </p:spPr>
        <p:txBody>
          <a:bodyPr wrap="square">
            <a:spAutoFit/>
          </a:bodyPr>
          <a:lstStyle/>
          <a:p>
            <a:pPr>
              <a:defRPr sz="3600" b="1">
                <a:solidFill>
                  <a:srgbClr val="1E293B"/>
                </a:solidFill>
                <a:latin typeface="Outfit"/>
              </a:defRPr>
            </a:pPr>
            <a:r>
              <a:t>Languages Used &amp; The AI Core</a:t>
            </a:r>
          </a:p>
        </p:txBody>
      </p:sp>
      <p:sp>
        <p:nvSpPr>
          <p:cNvPr id="3" name="TextBox 2"/>
          <p:cNvSpPr txBox="1"/>
          <p:nvPr/>
        </p:nvSpPr>
        <p:spPr>
          <a:xfrm>
            <a:off x="914400" y="1645920"/>
            <a:ext cx="4754880" cy="4389120"/>
          </a:xfrm>
          <a:prstGeom prst="rect">
            <a:avLst/>
          </a:prstGeom>
          <a:noFill/>
        </p:spPr>
        <p:txBody>
          <a:bodyPr wrap="square">
            <a:spAutoFit/>
          </a:bodyPr>
          <a:lstStyle/>
          <a:p>
            <a:pPr>
              <a:defRPr sz="2200" b="1">
                <a:solidFill>
                  <a:srgbClr val="10B981"/>
                </a:solidFill>
                <a:latin typeface="Outfit"/>
              </a:defRPr>
            </a:pPr>
            <a:r>
              <a:t>Front-End Languages &amp; Stack</a:t>
            </a:r>
          </a:p>
          <a:p>
            <a:pPr>
              <a:spcAft>
                <a:spcPts val="800"/>
              </a:spcAft>
              <a:defRPr sz="1400">
                <a:solidFill>
                  <a:srgbClr val="1E293B"/>
                </a:solidFill>
                <a:latin typeface="Inter"/>
              </a:defRPr>
            </a:pPr>
            <a:r>
              <a:t>• React JS (v19): Component-driven logic &amp; state hydration.</a:t>
            </a:r>
          </a:p>
          <a:p>
            <a:pPr>
              <a:spcAft>
                <a:spcPts val="800"/>
              </a:spcAft>
              <a:defRPr sz="1400">
                <a:solidFill>
                  <a:srgbClr val="1E293B"/>
                </a:solidFill>
                <a:latin typeface="Inter"/>
              </a:defRPr>
            </a:pPr>
            <a:r>
              <a:t>• Vite Builder: Scaffold compiler producing high-speed local dev performance.</a:t>
            </a:r>
          </a:p>
          <a:p>
            <a:pPr>
              <a:spcAft>
                <a:spcPts val="800"/>
              </a:spcAft>
              <a:defRPr sz="1400">
                <a:solidFill>
                  <a:srgbClr val="1E293B"/>
                </a:solidFill>
                <a:latin typeface="Inter"/>
              </a:defRPr>
            </a:pPr>
            <a:r>
              <a:t>• Vanilla CSS Custom Variables: Responsive layout flex-grids, theme states, and premium glassmorphism tokens.</a:t>
            </a:r>
          </a:p>
          <a:p>
            <a:pPr>
              <a:spcAft>
                <a:spcPts val="800"/>
              </a:spcAft>
              <a:defRPr sz="1400">
                <a:solidFill>
                  <a:srgbClr val="1E293B"/>
                </a:solidFill>
                <a:latin typeface="Inter"/>
              </a:defRPr>
            </a:pPr>
            <a:r>
              <a:t>• Lucide React Icons: Clean vector assets mapping dashboard controls.</a:t>
            </a:r>
          </a:p>
        </p:txBody>
      </p:sp>
      <p:sp>
        <p:nvSpPr>
          <p:cNvPr id="4" name="TextBox 3"/>
          <p:cNvSpPr txBox="1"/>
          <p:nvPr/>
        </p:nvSpPr>
        <p:spPr>
          <a:xfrm>
            <a:off x="6217920" y="1645920"/>
            <a:ext cx="5029200" cy="4389120"/>
          </a:xfrm>
          <a:prstGeom prst="rect">
            <a:avLst/>
          </a:prstGeom>
          <a:noFill/>
        </p:spPr>
        <p:txBody>
          <a:bodyPr wrap="square">
            <a:spAutoFit/>
          </a:bodyPr>
          <a:lstStyle/>
          <a:p>
            <a:pPr>
              <a:defRPr sz="2200" b="1">
                <a:solidFill>
                  <a:srgbClr val="10B981"/>
                </a:solidFill>
                <a:latin typeface="Outfit"/>
              </a:defRPr>
            </a:pPr>
            <a:r>
              <a:t>Gemini Multimodal AI Integration</a:t>
            </a:r>
          </a:p>
          <a:p>
            <a:pPr>
              <a:spcAft>
                <a:spcPts val="800"/>
              </a:spcAft>
              <a:defRPr sz="1400">
                <a:solidFill>
                  <a:srgbClr val="1E293B"/>
                </a:solidFill>
                <a:latin typeface="Inter"/>
              </a:defRPr>
            </a:pPr>
            <a:r>
              <a:t>• Gemini Multimodal Vision API: Powers leaf disease detection.</a:t>
            </a:r>
          </a:p>
          <a:p>
            <a:pPr>
              <a:spcAft>
                <a:spcPts val="800"/>
              </a:spcAft>
              <a:defRPr sz="1400">
                <a:solidFill>
                  <a:srgbClr val="1E293B"/>
                </a:solidFill>
                <a:latin typeface="Inter"/>
              </a:defRPr>
            </a:pPr>
            <a:r>
              <a:t>• Visual Analysis: Farmers upload/snap leaf images. The image is piped to gemini-1.5-flash with a specialized agronomy system prompt.</a:t>
            </a:r>
          </a:p>
          <a:p>
            <a:pPr>
              <a:spcAft>
                <a:spcPts val="800"/>
              </a:spcAft>
              <a:defRPr sz="1400">
                <a:solidFill>
                  <a:srgbClr val="1E293B"/>
                </a:solidFill>
                <a:latin typeface="Inter"/>
              </a:defRPr>
            </a:pPr>
            <a:r>
              <a:t>• Pathology Report: Gemini evaluates visual symptoms (chlorosis spots, tissue margins) and matches them to specific diseases.</a:t>
            </a:r>
          </a:p>
          <a:p>
            <a:pPr>
              <a:spcAft>
                <a:spcPts val="800"/>
              </a:spcAft>
              <a:defRPr sz="1400">
                <a:solidFill>
                  <a:srgbClr val="1E293B"/>
                </a:solidFill>
                <a:latin typeface="Inter"/>
              </a:defRPr>
            </a:pPr>
            <a:r>
              <a:t>• Accurate Recommendations: Instantly generates tailored natural organic cures (ZBNF), prevention, and fallback chemical warnings.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548640"/>
            <a:ext cx="10362895" cy="914400"/>
          </a:xfrm>
          <a:prstGeom prst="rect">
            <a:avLst/>
          </a:prstGeom>
          <a:noFill/>
        </p:spPr>
        <p:txBody>
          <a:bodyPr wrap="square">
            <a:spAutoFit/>
          </a:bodyPr>
          <a:lstStyle/>
          <a:p>
            <a:pPr>
              <a:defRPr sz="3600" b="1">
                <a:solidFill>
                  <a:srgbClr val="1E293B"/>
                </a:solidFill>
                <a:latin typeface="Outfit"/>
              </a:defRPr>
            </a:pPr>
            <a:r>
              <a:t>App Overview &amp; Farmer Onboarding</a:t>
            </a:r>
          </a:p>
        </p:txBody>
      </p:sp>
      <p:sp>
        <p:nvSpPr>
          <p:cNvPr id="3" name="TextBox 2"/>
          <p:cNvSpPr txBox="1"/>
          <p:nvPr/>
        </p:nvSpPr>
        <p:spPr>
          <a:xfrm>
            <a:off x="914400" y="1645920"/>
            <a:ext cx="5486400" cy="4389120"/>
          </a:xfrm>
          <a:prstGeom prst="rect">
            <a:avLst/>
          </a:prstGeom>
          <a:noFill/>
        </p:spPr>
        <p:txBody>
          <a:bodyPr wrap="square">
            <a:spAutoFit/>
          </a:bodyPr>
          <a:lstStyle/>
          <a:p>
            <a:pPr>
              <a:spcAft>
                <a:spcPts val="1200"/>
              </a:spcAft>
              <a:defRPr sz="1400">
                <a:solidFill>
                  <a:srgbClr val="1E293B"/>
                </a:solidFill>
                <a:latin typeface="Inter"/>
              </a:defRPr>
            </a:pPr>
            <a:r>
              <a:t>• Farming Dashboard: Welcome greeting matching time-of-day, quick links to core tools, and organic ticker updates.</a:t>
            </a:r>
          </a:p>
          <a:p>
            <a:pPr>
              <a:spcAft>
                <a:spcPts val="1200"/>
              </a:spcAft>
              <a:defRPr sz="1400">
                <a:solidFill>
                  <a:srgbClr val="1E293B"/>
                </a:solidFill>
                <a:latin typeface="Inter"/>
              </a:defRPr>
            </a:pPr>
            <a:r>
              <a:t>• Krishi Mitra AI Chatbot: Quick access chat panel loaded with natural pest recipes and composting glossaries.</a:t>
            </a:r>
          </a:p>
          <a:p>
            <a:pPr>
              <a:spcAft>
                <a:spcPts val="1200"/>
              </a:spcAft>
              <a:defRPr sz="1400">
                <a:solidFill>
                  <a:srgbClr val="1E293B"/>
                </a:solidFill>
                <a:latin typeface="Inter"/>
              </a:defRPr>
            </a:pPr>
            <a:r>
              <a:t>• Live Sensors Widget: Displays simulated relative humidity, wind speed, solar indexes, and soil moisture updates.</a:t>
            </a:r>
          </a:p>
          <a:p>
            <a:pPr>
              <a:spcAft>
                <a:spcPts val="1200"/>
              </a:spcAft>
              <a:defRPr sz="1400">
                <a:solidFill>
                  <a:srgbClr val="1E293B"/>
                </a:solidFill>
                <a:latin typeface="Inter"/>
              </a:defRPr>
            </a:pPr>
            <a:r>
              <a:t>• Agri-Officer Advisory Banner: Banner updates dynamically to warn growers of blight risks during high humidity thresholds.</a:t>
            </a:r>
          </a:p>
          <a:p>
            <a:pPr>
              <a:spcAft>
                <a:spcPts val="1200"/>
              </a:spcAft>
              <a:defRPr sz="1400">
                <a:solidFill>
                  <a:srgbClr val="1E293B"/>
                </a:solidFill>
                <a:latin typeface="Inter"/>
              </a:defRPr>
            </a:pPr>
            <a:r>
              <a:t>• Theme Toggle: Responsive dark/light toggle for high visibility during bright field sun or night operations.</a:t>
            </a:r>
          </a:p>
        </p:txBody>
      </p:sp>
      <p:pic>
        <p:nvPicPr>
          <p:cNvPr id="4" name="Picture 3" descr="app_scanner_mockup.png"/>
          <p:cNvPicPr>
            <a:picLocks noChangeAspect="1"/>
          </p:cNvPicPr>
          <p:nvPr/>
        </p:nvPicPr>
        <p:blipFill>
          <a:blip r:embed="rId2"/>
          <a:stretch>
            <a:fillRect/>
          </a:stretch>
        </p:blipFill>
        <p:spPr>
          <a:xfrm>
            <a:off x="7132320" y="1645920"/>
            <a:ext cx="4114800" cy="4114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548640"/>
            <a:ext cx="10362895" cy="914400"/>
          </a:xfrm>
          <a:prstGeom prst="rect">
            <a:avLst/>
          </a:prstGeom>
          <a:noFill/>
        </p:spPr>
        <p:txBody>
          <a:bodyPr wrap="square">
            <a:spAutoFit/>
          </a:bodyPr>
          <a:lstStyle/>
          <a:p>
            <a:pPr>
              <a:defRPr sz="3600" b="1">
                <a:solidFill>
                  <a:srgbClr val="1E293B"/>
                </a:solidFill>
                <a:latin typeface="Outfit"/>
              </a:defRPr>
            </a:pPr>
            <a:r>
              <a:t>How to Scan and Detect Diseases</a:t>
            </a:r>
          </a:p>
        </p:txBody>
      </p:sp>
      <p:pic>
        <p:nvPicPr>
          <p:cNvPr id="3" name="Picture 2" descr="diseased_leaf_sample.png"/>
          <p:cNvPicPr>
            <a:picLocks noChangeAspect="1"/>
          </p:cNvPicPr>
          <p:nvPr/>
        </p:nvPicPr>
        <p:blipFill>
          <a:blip r:embed="rId2"/>
          <a:stretch>
            <a:fillRect/>
          </a:stretch>
        </p:blipFill>
        <p:spPr>
          <a:xfrm>
            <a:off x="914400" y="1645920"/>
            <a:ext cx="4114800" cy="4114800"/>
          </a:xfrm>
          <a:prstGeom prst="rect">
            <a:avLst/>
          </a:prstGeom>
        </p:spPr>
      </p:pic>
      <p:sp>
        <p:nvSpPr>
          <p:cNvPr id="4" name="TextBox 3"/>
          <p:cNvSpPr txBox="1"/>
          <p:nvPr/>
        </p:nvSpPr>
        <p:spPr>
          <a:xfrm>
            <a:off x="5669280" y="1645920"/>
            <a:ext cx="5608015" cy="4389120"/>
          </a:xfrm>
          <a:prstGeom prst="rect">
            <a:avLst/>
          </a:prstGeom>
          <a:noFill/>
        </p:spPr>
        <p:txBody>
          <a:bodyPr wrap="square">
            <a:spAutoFit/>
          </a:bodyPr>
          <a:lstStyle/>
          <a:p>
            <a:pPr>
              <a:spcAft>
                <a:spcPts val="1200"/>
              </a:spcAft>
              <a:defRPr sz="1400">
                <a:solidFill>
                  <a:srgbClr val="1E293B"/>
                </a:solidFill>
                <a:latin typeface="Inter"/>
              </a:defRPr>
            </a:pPr>
            <a:r>
              <a:t>1. Select Crop Type: Choose from Tomatoes, Potatoes, Grapes, Rice, Apple, Wheat, or Corn.</a:t>
            </a:r>
          </a:p>
          <a:p>
            <a:pPr>
              <a:spcAft>
                <a:spcPts val="1200"/>
              </a:spcAft>
              <a:defRPr sz="1400">
                <a:solidFill>
                  <a:srgbClr val="1E293B"/>
                </a:solidFill>
                <a:latin typeface="Inter"/>
              </a:defRPr>
            </a:pPr>
            <a:r>
              <a:t>2. Upload/Snap Photo: Tap 'Camera' for live webcam capture in the field, or drag-and-drop a leaf image.</a:t>
            </a:r>
          </a:p>
          <a:p>
            <a:pPr>
              <a:spcAft>
                <a:spcPts val="1200"/>
              </a:spcAft>
              <a:defRPr sz="1400">
                <a:solidFill>
                  <a:srgbClr val="1E293B"/>
                </a:solidFill>
                <a:latin typeface="Inter"/>
              </a:defRPr>
            </a:pPr>
            <a:r>
              <a:t>3. Automated Spectrometry: The canvas analyzes chlorophyll, chlorosis (yellowing), and necrosis (dark spots) zones.</a:t>
            </a:r>
          </a:p>
          <a:p>
            <a:pPr>
              <a:spcAft>
                <a:spcPts val="1200"/>
              </a:spcAft>
              <a:defRPr sz="1400">
                <a:solidFill>
                  <a:srgbClr val="1E293B"/>
                </a:solidFill>
                <a:latin typeface="Inter"/>
              </a:defRPr>
            </a:pPr>
            <a:r>
              <a:t>4. Gemini AI Diagnosis: The image and color data are submitted to the Gemini API.</a:t>
            </a:r>
          </a:p>
          <a:p>
            <a:pPr>
              <a:spcAft>
                <a:spcPts val="1200"/>
              </a:spcAft>
              <a:defRPr sz="1400">
                <a:solidFill>
                  <a:srgbClr val="1E293B"/>
                </a:solidFill>
                <a:latin typeface="Inter"/>
              </a:defRPr>
            </a:pPr>
            <a:r>
              <a:t>5. Organic Remedy Delivery: Review organic solutions (e.g. buttermilk spray recipes), prevention steps, and chemical alternatives.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548640"/>
            <a:ext cx="10362895" cy="914400"/>
          </a:xfrm>
          <a:prstGeom prst="rect">
            <a:avLst/>
          </a:prstGeom>
          <a:noFill/>
        </p:spPr>
        <p:txBody>
          <a:bodyPr wrap="square">
            <a:spAutoFit/>
          </a:bodyPr>
          <a:lstStyle/>
          <a:p>
            <a:pPr>
              <a:defRPr sz="3600" b="1">
                <a:solidFill>
                  <a:srgbClr val="1E293B"/>
                </a:solidFill>
                <a:latin typeface="Outfit"/>
              </a:defRPr>
            </a:pPr>
            <a:r>
              <a:t>Consulting Krishi Mitra &amp; Soil Health</a:t>
            </a:r>
          </a:p>
        </p:txBody>
      </p:sp>
      <p:sp>
        <p:nvSpPr>
          <p:cNvPr id="3" name="TextBox 2"/>
          <p:cNvSpPr txBox="1"/>
          <p:nvPr/>
        </p:nvSpPr>
        <p:spPr>
          <a:xfrm>
            <a:off x="914400" y="1645920"/>
            <a:ext cx="4754880" cy="4389120"/>
          </a:xfrm>
          <a:prstGeom prst="rect">
            <a:avLst/>
          </a:prstGeom>
          <a:noFill/>
        </p:spPr>
        <p:txBody>
          <a:bodyPr wrap="square">
            <a:spAutoFit/>
          </a:bodyPr>
          <a:lstStyle/>
          <a:p>
            <a:pPr>
              <a:defRPr sz="2200" b="1">
                <a:solidFill>
                  <a:srgbClr val="10B981"/>
                </a:solidFill>
                <a:latin typeface="Outfit"/>
              </a:defRPr>
            </a:pPr>
            <a:r>
              <a:t>Krishi Mitra Chatbot Assistant</a:t>
            </a:r>
          </a:p>
          <a:p>
            <a:pPr>
              <a:spcAft>
                <a:spcPts val="1000"/>
              </a:spcAft>
              <a:defRPr sz="1400">
                <a:solidFill>
                  <a:srgbClr val="1E293B"/>
                </a:solidFill>
                <a:latin typeface="Inter"/>
              </a:defRPr>
            </a:pPr>
            <a:r>
              <a:t>• Natural Interface: Interactive chat flow with expert agricultural officers.</a:t>
            </a:r>
          </a:p>
          <a:p>
            <a:pPr>
              <a:spcAft>
                <a:spcPts val="1000"/>
              </a:spcAft>
              <a:defRPr sz="1400">
                <a:solidFill>
                  <a:srgbClr val="1E293B"/>
                </a:solidFill>
                <a:latin typeface="Inter"/>
              </a:defRPr>
            </a:pPr>
            <a:r>
              <a:t>• NLP Keywords: Instant matching answers regarding organic formulations, fertilizers, and composting.</a:t>
            </a:r>
          </a:p>
          <a:p>
            <a:pPr>
              <a:spcAft>
                <a:spcPts val="1000"/>
              </a:spcAft>
              <a:defRPr sz="1400">
                <a:solidFill>
                  <a:srgbClr val="1E293B"/>
                </a:solidFill>
                <a:latin typeface="Inter"/>
              </a:defRPr>
            </a:pPr>
            <a:r>
              <a:t>• Shortcut Chips: Prompt suggestions like 'How to make Jeevamrutha?' or 'Tomato Early Blight naturally?'</a:t>
            </a:r>
          </a:p>
          <a:p>
            <a:pPr>
              <a:spcAft>
                <a:spcPts val="1000"/>
              </a:spcAft>
              <a:defRPr sz="1400">
                <a:solidFill>
                  <a:srgbClr val="1E293B"/>
                </a:solidFill>
                <a:latin typeface="Inter"/>
              </a:defRPr>
            </a:pPr>
            <a:r>
              <a:t>• Organic Glossary: Quick sidebar index for recipes (Neemastra, Bijamrutha, Agniastra).</a:t>
            </a:r>
          </a:p>
        </p:txBody>
      </p:sp>
      <p:sp>
        <p:nvSpPr>
          <p:cNvPr id="4" name="TextBox 3"/>
          <p:cNvSpPr txBox="1"/>
          <p:nvPr/>
        </p:nvSpPr>
        <p:spPr>
          <a:xfrm>
            <a:off x="6217920" y="1645920"/>
            <a:ext cx="5029200" cy="4389120"/>
          </a:xfrm>
          <a:prstGeom prst="rect">
            <a:avLst/>
          </a:prstGeom>
          <a:noFill/>
        </p:spPr>
        <p:txBody>
          <a:bodyPr wrap="square">
            <a:spAutoFit/>
          </a:bodyPr>
          <a:lstStyle/>
          <a:p>
            <a:pPr>
              <a:defRPr sz="2200" b="1">
                <a:solidFill>
                  <a:srgbClr val="10B981"/>
                </a:solidFill>
                <a:latin typeface="Outfit"/>
              </a:defRPr>
            </a:pPr>
            <a:r>
              <a:t>Soil Health &amp; NPK Calculator</a:t>
            </a:r>
          </a:p>
          <a:p>
            <a:pPr>
              <a:spcAft>
                <a:spcPts val="1000"/>
              </a:spcAft>
              <a:defRPr sz="1400">
                <a:solidFill>
                  <a:srgbClr val="1E293B"/>
                </a:solidFill>
                <a:latin typeface="Inter"/>
              </a:defRPr>
            </a:pPr>
            <a:r>
              <a:t>• Report Inputs: Farmers input values for Nitrogen (N), Phosphorus (P), Potassium (K), and pH.</a:t>
            </a:r>
          </a:p>
          <a:p>
            <a:pPr>
              <a:spcAft>
                <a:spcPts val="1000"/>
              </a:spcAft>
              <a:defRPr sz="1400">
                <a:solidFill>
                  <a:srgbClr val="1E293B"/>
                </a:solidFill>
                <a:latin typeface="Inter"/>
              </a:defRPr>
            </a:pPr>
            <a:r>
              <a:t>• Deficit Diagnosis: Instantly rates values (Deficient, Optimal, Excessive).</a:t>
            </a:r>
          </a:p>
          <a:p>
            <a:pPr>
              <a:spcAft>
                <a:spcPts val="1000"/>
              </a:spcAft>
              <a:defRPr sz="1400">
                <a:solidFill>
                  <a:srgbClr val="1E293B"/>
                </a:solidFill>
                <a:latin typeface="Inter"/>
              </a:defRPr>
            </a:pPr>
            <a:r>
              <a:t>• Tailored Amendments: Recommends specific natural products based on deficits.</a:t>
            </a:r>
          </a:p>
          <a:p>
            <a:pPr>
              <a:spcAft>
                <a:spcPts val="1000"/>
              </a:spcAft>
              <a:defRPr sz="1400">
                <a:solidFill>
                  <a:srgbClr val="1E293B"/>
                </a:solidFill>
                <a:latin typeface="Inter"/>
              </a:defRPr>
            </a:pPr>
            <a:r>
              <a:t>• Low N Remediation: Recommends Blood meal, vermicompost, or Sunn hemp cover crops.</a:t>
            </a:r>
          </a:p>
          <a:p>
            <a:pPr>
              <a:spcAft>
                <a:spcPts val="1000"/>
              </a:spcAft>
              <a:defRPr sz="1400">
                <a:solidFill>
                  <a:srgbClr val="1E293B"/>
                </a:solidFill>
                <a:latin typeface="Inter"/>
              </a:defRPr>
            </a:pPr>
            <a:r>
              <a:t>• Soil Acidification: Offers Agricultural Lime (acidic) or Gypsum (alkaline) inputs.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548640"/>
            <a:ext cx="10362895" cy="914400"/>
          </a:xfrm>
          <a:prstGeom prst="rect">
            <a:avLst/>
          </a:prstGeom>
          <a:noFill/>
        </p:spPr>
        <p:txBody>
          <a:bodyPr wrap="square">
            <a:spAutoFit/>
          </a:bodyPr>
          <a:lstStyle/>
          <a:p>
            <a:pPr>
              <a:defRPr sz="3600" b="1">
                <a:solidFill>
                  <a:srgbClr val="1E293B"/>
                </a:solidFill>
                <a:latin typeface="Outfit"/>
              </a:defRPr>
            </a:pPr>
            <a:r>
              <a:t>Mandi Prices &amp; Sowing Schedules</a:t>
            </a:r>
          </a:p>
        </p:txBody>
      </p:sp>
      <p:sp>
        <p:nvSpPr>
          <p:cNvPr id="3" name="TextBox 2"/>
          <p:cNvSpPr txBox="1"/>
          <p:nvPr/>
        </p:nvSpPr>
        <p:spPr>
          <a:xfrm>
            <a:off x="914400" y="1645920"/>
            <a:ext cx="4754880" cy="4389120"/>
          </a:xfrm>
          <a:prstGeom prst="rect">
            <a:avLst/>
          </a:prstGeom>
          <a:noFill/>
        </p:spPr>
        <p:txBody>
          <a:bodyPr wrap="square">
            <a:spAutoFit/>
          </a:bodyPr>
          <a:lstStyle/>
          <a:p>
            <a:pPr>
              <a:defRPr sz="2200" b="1">
                <a:solidFill>
                  <a:srgbClr val="10B981"/>
                </a:solidFill>
                <a:latin typeface="Outfit"/>
              </a:defRPr>
            </a:pPr>
            <a:r>
              <a:t>Commodity Mandi Rates</a:t>
            </a:r>
          </a:p>
          <a:p>
            <a:pPr>
              <a:spcAft>
                <a:spcPts val="1000"/>
              </a:spcAft>
              <a:defRPr sz="1400">
                <a:solidFill>
                  <a:srgbClr val="1E293B"/>
                </a:solidFill>
                <a:latin typeface="Inter"/>
              </a:defRPr>
            </a:pPr>
            <a:r>
              <a:t>• APMC Indexes: Live simulated rates (Rice, Wheat, Tomato, Onion, Cotton, Chilli).</a:t>
            </a:r>
          </a:p>
          <a:p>
            <a:pPr>
              <a:spcAft>
                <a:spcPts val="1000"/>
              </a:spcAft>
              <a:defRPr sz="1400">
                <a:solidFill>
                  <a:srgbClr val="1E293B"/>
                </a:solidFill>
                <a:latin typeface="Inter"/>
              </a:defRPr>
            </a:pPr>
            <a:r>
              <a:t>• Trends Indicator: High-impact arrow indices (green UP, red DOWN) showing daily percentage trends.</a:t>
            </a:r>
          </a:p>
          <a:p>
            <a:pPr>
              <a:spcAft>
                <a:spcPts val="1000"/>
              </a:spcAft>
              <a:defRPr sz="1400">
                <a:solidFill>
                  <a:srgbClr val="1E293B"/>
                </a:solidFill>
                <a:latin typeface="Inter"/>
              </a:defRPr>
            </a:pPr>
            <a:r>
              <a:t>• Revenue Estimator: Calculator computing gross earnings by commodity &amp; quintal quantity.</a:t>
            </a:r>
          </a:p>
          <a:p>
            <a:pPr>
              <a:spcAft>
                <a:spcPts val="1000"/>
              </a:spcAft>
              <a:defRPr sz="1400">
                <a:solidFill>
                  <a:srgbClr val="1E293B"/>
                </a:solidFill>
                <a:latin typeface="Inter"/>
              </a:defRPr>
            </a:pPr>
            <a:r>
              <a:t>• Advisor Notes: Crop-specific recommendations on whether to sell immediately or hold inventory.</a:t>
            </a:r>
          </a:p>
        </p:txBody>
      </p:sp>
      <p:sp>
        <p:nvSpPr>
          <p:cNvPr id="4" name="TextBox 3"/>
          <p:cNvSpPr txBox="1"/>
          <p:nvPr/>
        </p:nvSpPr>
        <p:spPr>
          <a:xfrm>
            <a:off x="6217920" y="1645920"/>
            <a:ext cx="5029200" cy="4389120"/>
          </a:xfrm>
          <a:prstGeom prst="rect">
            <a:avLst/>
          </a:prstGeom>
          <a:noFill/>
        </p:spPr>
        <p:txBody>
          <a:bodyPr wrap="square">
            <a:spAutoFit/>
          </a:bodyPr>
          <a:lstStyle/>
          <a:p>
            <a:pPr>
              <a:defRPr sz="2200" b="1">
                <a:solidFill>
                  <a:srgbClr val="10B981"/>
                </a:solidFill>
                <a:latin typeface="Outfit"/>
              </a:defRPr>
            </a:pPr>
            <a:r>
              <a:t>Sowing Schedules &amp; Weather</a:t>
            </a:r>
          </a:p>
          <a:p>
            <a:pPr>
              <a:spcAft>
                <a:spcPts val="1000"/>
              </a:spcAft>
              <a:defRPr sz="1400">
                <a:solidFill>
                  <a:srgbClr val="1E293B"/>
                </a:solidFill>
                <a:latin typeface="Inter"/>
              </a:defRPr>
            </a:pPr>
            <a:r>
              <a:t>• Seasonal Calendars: Comprehensive calendars for Kharif, Rabi, and Zaid crops.</a:t>
            </a:r>
          </a:p>
          <a:p>
            <a:pPr>
              <a:spcAft>
                <a:spcPts val="1000"/>
              </a:spcAft>
              <a:defRPr sz="1400">
                <a:solidFill>
                  <a:srgbClr val="1E293B"/>
                </a:solidFill>
                <a:latin typeface="Inter"/>
              </a:defRPr>
            </a:pPr>
            <a:r>
              <a:t>• Crop Profiles: Lists optimal rainfall, growth durations, temperatures, and seed nursery preparation steps.</a:t>
            </a:r>
          </a:p>
          <a:p>
            <a:pPr>
              <a:spcAft>
                <a:spcPts val="1000"/>
              </a:spcAft>
              <a:defRPr sz="1400">
                <a:solidFill>
                  <a:srgbClr val="1E293B"/>
                </a:solidFill>
                <a:latin typeface="Inter"/>
              </a:defRPr>
            </a:pPr>
            <a:r>
              <a:t>• Search &amp; Filter: Search by crop name or filter by agricultural seasons.</a:t>
            </a:r>
          </a:p>
          <a:p>
            <a:pPr>
              <a:spcAft>
                <a:spcPts val="1000"/>
              </a:spcAft>
              <a:defRPr sz="1400">
                <a:solidFill>
                  <a:srgbClr val="1E293B"/>
                </a:solidFill>
                <a:latin typeface="Inter"/>
              </a:defRPr>
            </a:pPr>
            <a:r>
              <a:t>• Weather Advisories: Displays real-time warnings (e.g. relative humidity warnings for blight).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548640"/>
            <a:ext cx="10362895" cy="914400"/>
          </a:xfrm>
          <a:prstGeom prst="rect">
            <a:avLst/>
          </a:prstGeom>
          <a:noFill/>
        </p:spPr>
        <p:txBody>
          <a:bodyPr wrap="square">
            <a:spAutoFit/>
          </a:bodyPr>
          <a:lstStyle/>
          <a:p>
            <a:pPr>
              <a:defRPr sz="3600" b="1">
                <a:solidFill>
                  <a:srgbClr val="1E293B"/>
                </a:solidFill>
                <a:latin typeface="Outfit"/>
              </a:defRPr>
            </a:pPr>
            <a:r>
              <a:t>Organic Cures (ZBNF) &amp; Deployment</a:t>
            </a:r>
          </a:p>
        </p:txBody>
      </p:sp>
      <p:sp>
        <p:nvSpPr>
          <p:cNvPr id="3" name="TextBox 2"/>
          <p:cNvSpPr txBox="1"/>
          <p:nvPr/>
        </p:nvSpPr>
        <p:spPr>
          <a:xfrm>
            <a:off x="914400" y="1645920"/>
            <a:ext cx="5486400" cy="4389120"/>
          </a:xfrm>
          <a:prstGeom prst="rect">
            <a:avLst/>
          </a:prstGeom>
          <a:noFill/>
        </p:spPr>
        <p:txBody>
          <a:bodyPr wrap="square">
            <a:spAutoFit/>
          </a:bodyPr>
          <a:lstStyle/>
          <a:p>
            <a:pPr>
              <a:spcAft>
                <a:spcPts val="1200"/>
              </a:spcAft>
              <a:defRPr sz="1400">
                <a:solidFill>
                  <a:srgbClr val="1E293B"/>
                </a:solidFill>
                <a:latin typeface="Inter"/>
              </a:defRPr>
            </a:pPr>
            <a:r>
              <a:t>• Jeevamrutha Preparation: Complete recipe ingredients (cow dung, urine, flour, jaggery, forest soil) and step-by-step clockwise stirring guidelines.</a:t>
            </a:r>
          </a:p>
          <a:p>
            <a:pPr>
              <a:spcAft>
                <a:spcPts val="1200"/>
              </a:spcAft>
              <a:defRPr sz="1400">
                <a:solidFill>
                  <a:srgbClr val="1E293B"/>
                </a:solidFill>
                <a:latin typeface="Inter"/>
              </a:defRPr>
            </a:pPr>
            <a:r>
              <a:t>• Botanical Pesticides: Recipes for Neemastra, Agniastra, and Dashaparni Ark.</a:t>
            </a:r>
          </a:p>
          <a:p>
            <a:pPr>
              <a:spcAft>
                <a:spcPts val="1200"/>
              </a:spcAft>
              <a:defRPr sz="1400">
                <a:solidFill>
                  <a:srgbClr val="1E293B"/>
                </a:solidFill>
                <a:latin typeface="Inter"/>
              </a:defRPr>
            </a:pPr>
            <a:r>
              <a:t>• Clean Codebase Architecture: React Vite template, strict module configurations, and linted components.</a:t>
            </a:r>
          </a:p>
          <a:p>
            <a:pPr>
              <a:spcAft>
                <a:spcPts val="1200"/>
              </a:spcAft>
              <a:defRPr sz="1400">
                <a:solidFill>
                  <a:srgbClr val="1E293B"/>
                </a:solidFill>
                <a:latin typeface="Inter"/>
              </a:defRPr>
            </a:pPr>
            <a:r>
              <a:t>• GitHub Integration: Staged and successfully pushed to repository: TsTeja13/farmtime on branch main.</a:t>
            </a:r>
          </a:p>
          <a:p>
            <a:pPr>
              <a:spcAft>
                <a:spcPts val="1200"/>
              </a:spcAft>
              <a:defRPr sz="1400">
                <a:solidFill>
                  <a:srgbClr val="1E293B"/>
                </a:solidFill>
                <a:latin typeface="Inter"/>
              </a:defRPr>
            </a:pPr>
            <a:r>
              <a:t>• Vercel Deployment: Standard compilation optimized for zero-configuration, immediate production deployment on Vercel.</a:t>
            </a:r>
          </a:p>
        </p:txBody>
      </p:sp>
      <p:pic>
        <p:nvPicPr>
          <p:cNvPr id="4" name="Picture 3" descr="natural_farming_preps.png"/>
          <p:cNvPicPr>
            <a:picLocks noChangeAspect="1"/>
          </p:cNvPicPr>
          <p:nvPr/>
        </p:nvPicPr>
        <p:blipFill>
          <a:blip r:embed="rId2"/>
          <a:stretch>
            <a:fillRect/>
          </a:stretch>
        </p:blipFill>
        <p:spPr>
          <a:xfrm>
            <a:off x="7132320" y="1645920"/>
            <a:ext cx="4114800" cy="4114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