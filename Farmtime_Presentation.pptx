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day everyone. Today, I am presenting 'Farmtime', a digital companion application for sustainable agriculture. Built from the combined perspective of an agricultural officer, a local farmer, and a senior app developer, Farmtime bridges the gap between digital diagnostics and organic natural cures, helping farmers save yields and reduce input costs.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2, we look at the stack. We're using standard React-Vite and Vanilla CSS for maximum efficiency. The core AI disease detection utilizes a Gemini API key. When a farmer takes a photo of a sick leaf, the image is analyzed by Gemini's Multimodal Vision model, which diagnoses the visual symptoms and returns organic ZBNF remedies.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at Slide 3, we have the user onboarding overview. The dashboard provides quick access to all functions. It features live weather data and alerts. If humidity rises above critical limits, the system warns the farmer about fungal risks so they can act preventively. The responsive layout has dark mode for late-night farm checks.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on Slide 4, let's look at the scanning process. The farmer takes a photo of an affected leaf, selects the crop, and submits. The canvas runs a color pigment spectrometry, highlighting chlorosis and necrosis. The Gemini API analyzes this data, diagnosing the disease and giving organic recipes (like sour buttermilk spray) and chemical options.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move to Slide 5: Chatbot and Soil Health. The Krishi Mitra chatbot allows farmers to ask questions and receive step-by-step recipes. The Soil Health Calculator helps farmers input actual soil card measurements. It determines NPK deficits and recommends organic amendments like bone meal or gypsum to restore balanced pH.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6, we address Mandi Prices and Sowing Schedules. Commodity trading is crucial. The Mandi tool tracks wholesale rates in local APMC markets. The calculator allows farmers to estimate harvest value. In addition, the sowing calendar tracks Kharif, Rabi, and Zaid crop cycles.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Slide 7 details Zero Budget Natural Farming (ZBNF) and deployment. The app provides exact recipes for formulations like Jeevamrutha to rebuild organic soil carbon and boost leaf immunity. The codebase is fully tested, built in 591ms, and ready for one-click Vercel hosting.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0"/>
            <a:ext cx="6217920" cy="4114800"/>
          </a:xfrm>
          <a:prstGeom prst="rect">
            <a:avLst/>
          </a:prstGeom>
          <a:noFill/>
        </p:spPr>
        <p:txBody>
          <a:bodyPr wrap="square">
            <a:spAutoFit/>
          </a:bodyPr>
          <a:lstStyle/>
          <a:p>
            <a:pPr>
              <a:defRPr sz="6400" b="1">
                <a:solidFill>
                  <a:srgbClr val="10B981"/>
                </a:solidFill>
                <a:latin typeface="Outfit"/>
              </a:defRPr>
            </a:pPr>
            <a:r>
              <a:t>FARMTIME</a:t>
            </a:r>
          </a:p>
          <a:p>
            <a:pPr>
              <a:spcBef>
                <a:spcPts val="1000"/>
              </a:spcBef>
              <a:defRPr sz="2800">
                <a:solidFill>
                  <a:srgbClr val="FFFFFF"/>
                </a:solidFill>
                <a:latin typeface="Inter"/>
              </a:defRPr>
            </a:pPr>
            <a:r>
              <a:t>AI-Powered Sustainable Farming Companion</a:t>
            </a:r>
          </a:p>
          <a:p>
            <a:pPr>
              <a:spcBef>
                <a:spcPts val="2000"/>
              </a:spcBef>
              <a:defRPr sz="1400">
                <a:solidFill>
                  <a:srgbClr val="10B981"/>
                </a:solidFill>
                <a:latin typeface="Inter"/>
              </a:defRPr>
            </a:pPr>
            <a:r>
              <a:t>• Empowering farmers with Gemini Multimodal Vision &amp; ZBNF Solutions</a:t>
            </a:r>
            <a:br/>
            <a:r>
              <a:t>• Designed from the perspective of an Agriculture Officer, Farmer, and Senior Developer</a:t>
            </a:r>
          </a:p>
        </p:txBody>
      </p:sp>
      <p:pic>
        <p:nvPicPr>
          <p:cNvPr id="4" name="Picture 3" descr="app_scanner_mockup.png"/>
          <p:cNvPicPr>
            <a:picLocks noChangeAspect="1"/>
          </p:cNvPicPr>
          <p:nvPr/>
        </p:nvPicPr>
        <p:blipFill>
          <a:blip r:embed="rId2"/>
          <a:stretch>
            <a:fillRect/>
          </a:stretch>
        </p:blipFill>
        <p:spPr>
          <a:xfrm>
            <a:off x="7315200" y="1097280"/>
            <a:ext cx="4114800" cy="41148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pPr>
              <a:defRPr sz="3600" b="1">
                <a:solidFill>
                  <a:srgbClr val="1E293B"/>
                </a:solidFill>
                <a:latin typeface="Outfit"/>
              </a:defRPr>
            </a:pPr>
            <a:r>
              <a:t>Languages Used &amp; The AI Core</a:t>
            </a:r>
          </a:p>
        </p:txBody>
      </p:sp>
      <p:sp>
        <p:nvSpPr>
          <p:cNvPr id="3" name="TextBox 2"/>
          <p:cNvSpPr txBox="1"/>
          <p:nvPr/>
        </p:nvSpPr>
        <p:spPr>
          <a:xfrm>
            <a:off x="731520" y="1463040"/>
            <a:ext cx="6217920" cy="4754880"/>
          </a:xfrm>
          <a:prstGeom prst="rect">
            <a:avLst/>
          </a:prstGeom>
          <a:noFill/>
        </p:spPr>
        <p:txBody>
          <a:bodyPr wrap="square">
            <a:spAutoFit/>
          </a:bodyPr>
          <a:lstStyle/>
          <a:p>
            <a:pPr>
              <a:defRPr sz="2000" b="1">
                <a:solidFill>
                  <a:srgbClr val="10B981"/>
                </a:solidFill>
                <a:latin typeface="Outfit"/>
              </a:defRPr>
            </a:pPr>
            <a:r>
              <a:t>Front-End Languages &amp; Stack:</a:t>
            </a:r>
          </a:p>
          <a:p>
            <a:pPr>
              <a:spcAft>
                <a:spcPts val="600"/>
              </a:spcAft>
              <a:defRPr sz="1300">
                <a:solidFill>
                  <a:srgbClr val="1E293B"/>
                </a:solidFill>
                <a:latin typeface="Inter"/>
              </a:defRPr>
            </a:pPr>
            <a:r>
              <a:t>• React JS: Component state management and fluid UI updates.</a:t>
            </a:r>
          </a:p>
          <a:p>
            <a:pPr>
              <a:spcAft>
                <a:spcPts val="600"/>
              </a:spcAft>
              <a:defRPr sz="1300">
                <a:solidFill>
                  <a:srgbClr val="1E293B"/>
                </a:solidFill>
                <a:latin typeface="Inter"/>
              </a:defRPr>
            </a:pPr>
            <a:r>
              <a:t>• Vite Builder: Rapid compiler for zero compilation latency.</a:t>
            </a:r>
          </a:p>
          <a:p>
            <a:pPr>
              <a:spcAft>
                <a:spcPts val="600"/>
              </a:spcAft>
              <a:defRPr sz="1300">
                <a:solidFill>
                  <a:srgbClr val="1E293B"/>
                </a:solidFill>
                <a:latin typeface="Inter"/>
              </a:defRPr>
            </a:pPr>
            <a:r>
              <a:t>• Vanilla CSS: Custom variables (HSL), glassmorphism styles, and responsive grids.</a:t>
            </a:r>
          </a:p>
          <a:p>
            <a:pPr>
              <a:spcAft>
                <a:spcPts val="600"/>
              </a:spcAft>
              <a:defRPr sz="1300">
                <a:solidFill>
                  <a:srgbClr val="1E293B"/>
                </a:solidFill>
                <a:latin typeface="Inter"/>
              </a:defRPr>
            </a:pPr>
            <a:r>
              <a:t>• Lucide-React: Clean vector control and navigation icons.</a:t>
            </a:r>
          </a:p>
          <a:p>
            <a:pPr>
              <a:spcBef>
                <a:spcPts val="1200"/>
              </a:spcBef>
              <a:defRPr sz="2000" b="1">
                <a:solidFill>
                  <a:srgbClr val="10B981"/>
                </a:solidFill>
                <a:latin typeface="Outfit"/>
              </a:defRPr>
            </a:pPr>
            <a:r>
              <a:t>The Gemini AI Core:</a:t>
            </a:r>
          </a:p>
          <a:p>
            <a:pPr>
              <a:spcAft>
                <a:spcPts val="600"/>
              </a:spcAft>
              <a:defRPr sz="1300">
                <a:solidFill>
                  <a:srgbClr val="1E293B"/>
                </a:solidFill>
                <a:latin typeface="Inter"/>
              </a:defRPr>
            </a:pPr>
            <a:r>
              <a:t>• Gemini Multimodal Vision API: Powers disease detection.</a:t>
            </a:r>
          </a:p>
          <a:p>
            <a:pPr>
              <a:spcAft>
                <a:spcPts val="600"/>
              </a:spcAft>
              <a:defRPr sz="1300">
                <a:solidFill>
                  <a:srgbClr val="1E293B"/>
                </a:solidFill>
                <a:latin typeface="Inter"/>
              </a:defRPr>
            </a:pPr>
            <a:r>
              <a:t>• Visual Analysis: Farm photos are sent directly to the model using a Gemini API key.</a:t>
            </a:r>
          </a:p>
          <a:p>
            <a:pPr>
              <a:spcAft>
                <a:spcPts val="600"/>
              </a:spcAft>
              <a:defRPr sz="1300">
                <a:solidFill>
                  <a:srgbClr val="1E293B"/>
                </a:solidFill>
                <a:latin typeface="Inter"/>
              </a:defRPr>
            </a:pPr>
            <a:r>
              <a:t>• Diagnosis &amp; Curing: Gemini evaluates symptoms (spots, mildew) and outputs precise organic remedies.</a:t>
            </a:r>
          </a:p>
        </p:txBody>
      </p:sp>
      <p:pic>
        <p:nvPicPr>
          <p:cNvPr id="4" name="Picture 3" descr="ai_chip_agri.png"/>
          <p:cNvPicPr>
            <a:picLocks noChangeAspect="1"/>
          </p:cNvPicPr>
          <p:nvPr/>
        </p:nvPicPr>
        <p:blipFill>
          <a:blip r:embed="rId2"/>
          <a:stretch>
            <a:fillRect/>
          </a:stretch>
        </p:blipFill>
        <p:spPr>
          <a:xfrm>
            <a:off x="7315200" y="1645920"/>
            <a:ext cx="4114800" cy="41148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pPr>
              <a:defRPr sz="3600" b="1">
                <a:solidFill>
                  <a:srgbClr val="1E293B"/>
                </a:solidFill>
                <a:latin typeface="Outfit"/>
              </a:defRPr>
            </a:pPr>
            <a:r>
              <a:t>App Overview &amp; Onboarding</a:t>
            </a:r>
          </a:p>
        </p:txBody>
      </p:sp>
      <p:sp>
        <p:nvSpPr>
          <p:cNvPr id="3" name="TextBox 2"/>
          <p:cNvSpPr txBox="1"/>
          <p:nvPr/>
        </p:nvSpPr>
        <p:spPr>
          <a:xfrm>
            <a:off x="731520" y="1463040"/>
            <a:ext cx="6217920" cy="4754880"/>
          </a:xfrm>
          <a:prstGeom prst="rect">
            <a:avLst/>
          </a:prstGeom>
          <a:noFill/>
        </p:spPr>
        <p:txBody>
          <a:bodyPr wrap="square">
            <a:spAutoFit/>
          </a:bodyPr>
          <a:lstStyle/>
          <a:p>
            <a:pPr>
              <a:defRPr sz="2000" b="1">
                <a:solidFill>
                  <a:srgbClr val="10B981"/>
                </a:solidFill>
                <a:latin typeface="Outfit"/>
              </a:defRPr>
            </a:pPr>
            <a:r>
              <a:t>Key Navigation Features:</a:t>
            </a:r>
          </a:p>
          <a:p>
            <a:pPr>
              <a:spcAft>
                <a:spcPts val="1200"/>
              </a:spcAft>
              <a:defRPr sz="1400">
                <a:solidFill>
                  <a:srgbClr val="1E293B"/>
                </a:solidFill>
                <a:latin typeface="Inter"/>
              </a:defRPr>
            </a:pPr>
            <a:r>
              <a:t>• Agro-Dashboard: Dynamic welcome greetings and quick actions.</a:t>
            </a:r>
          </a:p>
          <a:p>
            <a:pPr>
              <a:spcAft>
                <a:spcPts val="1200"/>
              </a:spcAft>
              <a:defRPr sz="1400">
                <a:solidFill>
                  <a:srgbClr val="1E293B"/>
                </a:solidFill>
                <a:latin typeface="Inter"/>
              </a:defRPr>
            </a:pPr>
            <a:r>
              <a:t>• Live Sensor Widget: Simulated relative humidity, wind speed, solar index, and moisture readings.</a:t>
            </a:r>
          </a:p>
          <a:p>
            <a:pPr>
              <a:spcAft>
                <a:spcPts val="1200"/>
              </a:spcAft>
              <a:defRPr sz="1400">
                <a:solidFill>
                  <a:srgbClr val="1E293B"/>
                </a:solidFill>
                <a:latin typeface="Inter"/>
              </a:defRPr>
            </a:pPr>
            <a:r>
              <a:t>• Live Advisories: Banners warn growers about blight risks under humid conditions.</a:t>
            </a:r>
          </a:p>
          <a:p>
            <a:pPr>
              <a:spcAft>
                <a:spcPts val="1200"/>
              </a:spcAft>
              <a:defRPr sz="1400">
                <a:solidFill>
                  <a:srgbClr val="1E293B"/>
                </a:solidFill>
                <a:latin typeface="Inter"/>
              </a:defRPr>
            </a:pPr>
            <a:r>
              <a:t>• Theme Toggle: Dark/light theme support for field use in bright sunlight or at night.</a:t>
            </a:r>
          </a:p>
        </p:txBody>
      </p:sp>
      <p:pic>
        <p:nvPicPr>
          <p:cNvPr id="4" name="Picture 3" descr="app_scanner_mockup.png"/>
          <p:cNvPicPr>
            <a:picLocks noChangeAspect="1"/>
          </p:cNvPicPr>
          <p:nvPr/>
        </p:nvPicPr>
        <p:blipFill>
          <a:blip r:embed="rId2"/>
          <a:stretch>
            <a:fillRect/>
          </a:stretch>
        </p:blipFill>
        <p:spPr>
          <a:xfrm>
            <a:off x="7315200" y="1097280"/>
            <a:ext cx="4114800" cy="41148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pPr>
              <a:defRPr sz="3600" b="1">
                <a:solidFill>
                  <a:srgbClr val="1E293B"/>
                </a:solidFill>
                <a:latin typeface="Outfit"/>
              </a:defRPr>
            </a:pPr>
            <a:r>
              <a:t>How to Scan &amp; Detect Diseases</a:t>
            </a:r>
          </a:p>
        </p:txBody>
      </p:sp>
      <p:sp>
        <p:nvSpPr>
          <p:cNvPr id="3" name="TextBox 2"/>
          <p:cNvSpPr txBox="1"/>
          <p:nvPr/>
        </p:nvSpPr>
        <p:spPr>
          <a:xfrm>
            <a:off x="731520" y="1463040"/>
            <a:ext cx="6217920" cy="4754880"/>
          </a:xfrm>
          <a:prstGeom prst="rect">
            <a:avLst/>
          </a:prstGeom>
          <a:noFill/>
        </p:spPr>
        <p:txBody>
          <a:bodyPr wrap="square">
            <a:spAutoFit/>
          </a:bodyPr>
          <a:lstStyle/>
          <a:p>
            <a:pPr>
              <a:defRPr sz="2000" b="1">
                <a:solidFill>
                  <a:srgbClr val="10B981"/>
                </a:solidFill>
                <a:latin typeface="Outfit"/>
              </a:defRPr>
            </a:pPr>
            <a:r>
              <a:t>Step-by-Step Diagnostic Steps:</a:t>
            </a:r>
          </a:p>
          <a:p>
            <a:pPr>
              <a:spcAft>
                <a:spcPts val="800"/>
              </a:spcAft>
              <a:defRPr sz="1300">
                <a:solidFill>
                  <a:srgbClr val="1E293B"/>
                </a:solidFill>
                <a:latin typeface="Inter"/>
              </a:defRPr>
            </a:pPr>
            <a:r>
              <a:t>• Step 1: Select the crop type (Tomato, Potato, Grape, Rice, etc.).</a:t>
            </a:r>
          </a:p>
          <a:p>
            <a:pPr>
              <a:spcAft>
                <a:spcPts val="800"/>
              </a:spcAft>
              <a:defRPr sz="1300">
                <a:solidFill>
                  <a:srgbClr val="1E293B"/>
                </a:solidFill>
                <a:latin typeface="Inter"/>
              </a:defRPr>
            </a:pPr>
            <a:r>
              <a:t>• Step 2: Snap a live photo using the device camera or drag and drop a file.</a:t>
            </a:r>
          </a:p>
          <a:p>
            <a:pPr>
              <a:spcAft>
                <a:spcPts val="800"/>
              </a:spcAft>
              <a:defRPr sz="1300">
                <a:solidFill>
                  <a:srgbClr val="1E293B"/>
                </a:solidFill>
                <a:latin typeface="Inter"/>
              </a:defRPr>
            </a:pPr>
            <a:r>
              <a:t>• Step 3: Canvas Spectrometry analyzes healthy green, chlorosis, and necrosis.</a:t>
            </a:r>
          </a:p>
          <a:p>
            <a:pPr>
              <a:spcAft>
                <a:spcPts val="800"/>
              </a:spcAft>
              <a:defRPr sz="1300">
                <a:solidFill>
                  <a:srgbClr val="1E293B"/>
                </a:solidFill>
                <a:latin typeface="Inter"/>
              </a:defRPr>
            </a:pPr>
            <a:r>
              <a:t>• Step 4: Metrics are submitted to the Gemini Multimodal API for diagnosis.</a:t>
            </a:r>
          </a:p>
          <a:p>
            <a:pPr>
              <a:spcAft>
                <a:spcPts val="800"/>
              </a:spcAft>
              <a:defRPr sz="1300">
                <a:solidFill>
                  <a:srgbClr val="1E293B"/>
                </a:solidFill>
                <a:latin typeface="Inter"/>
              </a:defRPr>
            </a:pPr>
            <a:r>
              <a:t>• Step 5: The app renders symptoms, organic remedies (buttermilk, neem), and chemical warnings.</a:t>
            </a:r>
          </a:p>
        </p:txBody>
      </p:sp>
      <p:pic>
        <p:nvPicPr>
          <p:cNvPr id="4" name="Picture 3" descr="diseased_leaf_sample.png"/>
          <p:cNvPicPr>
            <a:picLocks noChangeAspect="1"/>
          </p:cNvPicPr>
          <p:nvPr/>
        </p:nvPicPr>
        <p:blipFill>
          <a:blip r:embed="rId2"/>
          <a:stretch>
            <a:fillRect/>
          </a:stretch>
        </p:blipFill>
        <p:spPr>
          <a:xfrm>
            <a:off x="7315200" y="1645920"/>
            <a:ext cx="4114800" cy="41148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pPr>
              <a:defRPr sz="3600" b="1">
                <a:solidFill>
                  <a:srgbClr val="1E293B"/>
                </a:solidFill>
                <a:latin typeface="Outfit"/>
              </a:defRPr>
            </a:pPr>
            <a:r>
              <a:t>Krishi Mitra &amp; Soil Health Cards</a:t>
            </a:r>
          </a:p>
        </p:txBody>
      </p:sp>
      <p:sp>
        <p:nvSpPr>
          <p:cNvPr id="3" name="TextBox 2"/>
          <p:cNvSpPr txBox="1"/>
          <p:nvPr/>
        </p:nvSpPr>
        <p:spPr>
          <a:xfrm>
            <a:off x="731520" y="1463040"/>
            <a:ext cx="6217920" cy="4754880"/>
          </a:xfrm>
          <a:prstGeom prst="rect">
            <a:avLst/>
          </a:prstGeom>
          <a:noFill/>
        </p:spPr>
        <p:txBody>
          <a:bodyPr wrap="square">
            <a:spAutoFit/>
          </a:bodyPr>
          <a:lstStyle/>
          <a:p>
            <a:pPr>
              <a:defRPr sz="1800" b="1">
                <a:solidFill>
                  <a:srgbClr val="10B981"/>
                </a:solidFill>
                <a:latin typeface="Outfit"/>
              </a:defRPr>
            </a:pPr>
            <a:r>
              <a:t>Krishi Mitra AI Chatbot:</a:t>
            </a:r>
          </a:p>
          <a:p>
            <a:pPr>
              <a:spcAft>
                <a:spcPts val="400"/>
              </a:spcAft>
              <a:defRPr sz="1200">
                <a:solidFill>
                  <a:srgbClr val="1E293B"/>
                </a:solidFill>
                <a:latin typeface="Inter"/>
              </a:defRPr>
            </a:pPr>
            <a:r>
              <a:t>• Interactive chat interface with fuzzy keyword matching.</a:t>
            </a:r>
          </a:p>
          <a:p>
            <a:pPr>
              <a:spcAft>
                <a:spcPts val="400"/>
              </a:spcAft>
              <a:defRPr sz="1200">
                <a:solidFill>
                  <a:srgbClr val="1E293B"/>
                </a:solidFill>
                <a:latin typeface="Inter"/>
              </a:defRPr>
            </a:pPr>
            <a:r>
              <a:t>• Pre-loaded natural recipes (Jeevamrutha, Neemastra, Agniastra).</a:t>
            </a:r>
          </a:p>
          <a:p>
            <a:pPr>
              <a:spcAft>
                <a:spcPts val="400"/>
              </a:spcAft>
              <a:defRPr sz="1200">
                <a:solidFill>
                  <a:srgbClr val="1E293B"/>
                </a:solidFill>
                <a:latin typeface="Inter"/>
              </a:defRPr>
            </a:pPr>
            <a:r>
              <a:t>• Shortcut prompts for quick click-and-ask questions.</a:t>
            </a:r>
          </a:p>
          <a:p>
            <a:pPr>
              <a:spcBef>
                <a:spcPts val="800"/>
              </a:spcBef>
              <a:defRPr sz="1800" b="1">
                <a:solidFill>
                  <a:srgbClr val="10B981"/>
                </a:solidFill>
                <a:latin typeface="Outfit"/>
              </a:defRPr>
            </a:pPr>
            <a:r>
              <a:t>Soil Health Card Calculator:</a:t>
            </a:r>
          </a:p>
          <a:p>
            <a:pPr>
              <a:spcAft>
                <a:spcPts val="400"/>
              </a:spcAft>
              <a:defRPr sz="1200">
                <a:solidFill>
                  <a:srgbClr val="1E293B"/>
                </a:solidFill>
                <a:latin typeface="Inter"/>
              </a:defRPr>
            </a:pPr>
            <a:r>
              <a:t>• Input soil test values for Nitrogen (N), Phosphorus (P), Potassium (K), and pH.</a:t>
            </a:r>
          </a:p>
          <a:p>
            <a:pPr>
              <a:spcAft>
                <a:spcPts val="400"/>
              </a:spcAft>
              <a:defRPr sz="1200">
                <a:solidFill>
                  <a:srgbClr val="1E293B"/>
                </a:solidFill>
                <a:latin typeface="Inter"/>
              </a:defRPr>
            </a:pPr>
            <a:r>
              <a:t>• Classifies values as low, optimal, or excessive.</a:t>
            </a:r>
          </a:p>
          <a:p>
            <a:pPr>
              <a:spcAft>
                <a:spcPts val="400"/>
              </a:spcAft>
              <a:defRPr sz="1200">
                <a:solidFill>
                  <a:srgbClr val="1E293B"/>
                </a:solidFill>
                <a:latin typeface="Inter"/>
              </a:defRPr>
            </a:pPr>
            <a:r>
              <a:t>• Recommends organic biological amendments (blood meal, bone meal, sulfur, gypsum).</a:t>
            </a:r>
          </a:p>
        </p:txBody>
      </p:sp>
      <p:pic>
        <p:nvPicPr>
          <p:cNvPr id="4" name="Picture 3" descr="soil_test.png"/>
          <p:cNvPicPr>
            <a:picLocks noChangeAspect="1"/>
          </p:cNvPicPr>
          <p:nvPr/>
        </p:nvPicPr>
        <p:blipFill>
          <a:blip r:embed="rId2"/>
          <a:stretch>
            <a:fillRect/>
          </a:stretch>
        </p:blipFill>
        <p:spPr>
          <a:xfrm>
            <a:off x="7315200" y="1645920"/>
            <a:ext cx="4114800" cy="41148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pPr>
              <a:defRPr sz="3600" b="1">
                <a:solidFill>
                  <a:srgbClr val="1E293B"/>
                </a:solidFill>
                <a:latin typeface="Outfit"/>
              </a:defRPr>
            </a:pPr>
            <a:r>
              <a:t>Mandi Prices &amp; Sowing Schedules</a:t>
            </a:r>
          </a:p>
        </p:txBody>
      </p:sp>
      <p:sp>
        <p:nvSpPr>
          <p:cNvPr id="3" name="TextBox 2"/>
          <p:cNvSpPr txBox="1"/>
          <p:nvPr/>
        </p:nvSpPr>
        <p:spPr>
          <a:xfrm>
            <a:off x="731520" y="1463040"/>
            <a:ext cx="6217920" cy="4754880"/>
          </a:xfrm>
          <a:prstGeom prst="rect">
            <a:avLst/>
          </a:prstGeom>
          <a:noFill/>
        </p:spPr>
        <p:txBody>
          <a:bodyPr wrap="square">
            <a:spAutoFit/>
          </a:bodyPr>
          <a:lstStyle/>
          <a:p>
            <a:pPr>
              <a:defRPr sz="1800" b="1">
                <a:solidFill>
                  <a:srgbClr val="10B981"/>
                </a:solidFill>
                <a:latin typeface="Outfit"/>
              </a:defRPr>
            </a:pPr>
            <a:r>
              <a:t>Commodity Mandi Rates:</a:t>
            </a:r>
          </a:p>
          <a:p>
            <a:pPr>
              <a:spcAft>
                <a:spcPts val="400"/>
              </a:spcAft>
              <a:defRPr sz="1200">
                <a:solidFill>
                  <a:srgbClr val="1E293B"/>
                </a:solidFill>
                <a:latin typeface="Inter"/>
              </a:defRPr>
            </a:pPr>
            <a:r>
              <a:t>• APMC price indicators for Rice, Wheat, Tomato, Onion, Cotton, and Chilli.</a:t>
            </a:r>
          </a:p>
          <a:p>
            <a:pPr>
              <a:spcAft>
                <a:spcPts val="400"/>
              </a:spcAft>
              <a:defRPr sz="1200">
                <a:solidFill>
                  <a:srgbClr val="1E293B"/>
                </a:solidFill>
                <a:latin typeface="Inter"/>
              </a:defRPr>
            </a:pPr>
            <a:r>
              <a:t>• Daily trends display arrow indicators (+/- %).</a:t>
            </a:r>
          </a:p>
          <a:p>
            <a:pPr>
              <a:spcAft>
                <a:spcPts val="400"/>
              </a:spcAft>
              <a:defRPr sz="1200">
                <a:solidFill>
                  <a:srgbClr val="1E293B"/>
                </a:solidFill>
                <a:latin typeface="Inter"/>
              </a:defRPr>
            </a:pPr>
            <a:r>
              <a:t>• Revenue estimator computes earnings based on crop quintals.</a:t>
            </a:r>
          </a:p>
          <a:p>
            <a:pPr>
              <a:spcBef>
                <a:spcPts val="800"/>
              </a:spcBef>
              <a:defRPr sz="1800" b="1">
                <a:solidFill>
                  <a:srgbClr val="10B981"/>
                </a:solidFill>
                <a:latin typeface="Outfit"/>
              </a:defRPr>
            </a:pPr>
            <a:r>
              <a:t>Sowing Schedules &amp; Weather:</a:t>
            </a:r>
          </a:p>
          <a:p>
            <a:pPr>
              <a:spcAft>
                <a:spcPts val="400"/>
              </a:spcAft>
              <a:defRPr sz="1200">
                <a:solidFill>
                  <a:srgbClr val="1E293B"/>
                </a:solidFill>
                <a:latin typeface="Inter"/>
              </a:defRPr>
            </a:pPr>
            <a:r>
              <a:t>• Calendars covering Kharif, Rabi, and Zaid seasons.</a:t>
            </a:r>
          </a:p>
          <a:p>
            <a:pPr>
              <a:spcAft>
                <a:spcPts val="400"/>
              </a:spcAft>
              <a:defRPr sz="1200">
                <a:solidFill>
                  <a:srgbClr val="1E293B"/>
                </a:solidFill>
                <a:latin typeface="Inter"/>
              </a:defRPr>
            </a:pPr>
            <a:r>
              <a:t>• Details optimal rainfall, temperature, and crop durations.</a:t>
            </a:r>
          </a:p>
        </p:txBody>
      </p:sp>
      <p:pic>
        <p:nvPicPr>
          <p:cNvPr id="4" name="Picture 3" descr="mandi_market.png"/>
          <p:cNvPicPr>
            <a:picLocks noChangeAspect="1"/>
          </p:cNvPicPr>
          <p:nvPr/>
        </p:nvPicPr>
        <p:blipFill>
          <a:blip r:embed="rId2"/>
          <a:stretch>
            <a:fillRect/>
          </a:stretch>
        </p:blipFill>
        <p:spPr>
          <a:xfrm>
            <a:off x="7315200" y="1645920"/>
            <a:ext cx="4114800" cy="41148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a:spAutoFit/>
          </a:bodyPr>
          <a:lstStyle/>
          <a:p>
            <a:pPr>
              <a:defRPr sz="3600" b="1">
                <a:solidFill>
                  <a:srgbClr val="1E293B"/>
                </a:solidFill>
                <a:latin typeface="Outfit"/>
              </a:defRPr>
            </a:pPr>
            <a:r>
              <a:t>Organic Cures (ZBNF) &amp; Deployment</a:t>
            </a:r>
          </a:p>
        </p:txBody>
      </p:sp>
      <p:sp>
        <p:nvSpPr>
          <p:cNvPr id="3" name="TextBox 2"/>
          <p:cNvSpPr txBox="1"/>
          <p:nvPr/>
        </p:nvSpPr>
        <p:spPr>
          <a:xfrm>
            <a:off x="731520" y="1463040"/>
            <a:ext cx="6217920" cy="4754880"/>
          </a:xfrm>
          <a:prstGeom prst="rect">
            <a:avLst/>
          </a:prstGeom>
          <a:noFill/>
        </p:spPr>
        <p:txBody>
          <a:bodyPr wrap="square">
            <a:spAutoFit/>
          </a:bodyPr>
          <a:lstStyle/>
          <a:p>
            <a:pPr>
              <a:defRPr sz="2000" b="1">
                <a:solidFill>
                  <a:srgbClr val="10B981"/>
                </a:solidFill>
                <a:latin typeface="Outfit"/>
              </a:defRPr>
            </a:pPr>
            <a:r>
              <a:t>Sustainable ZBNF Integration:</a:t>
            </a:r>
          </a:p>
          <a:p>
            <a:pPr>
              <a:spcAft>
                <a:spcPts val="1200"/>
              </a:spcAft>
              <a:defRPr sz="1400">
                <a:solidFill>
                  <a:srgbClr val="1E293B"/>
                </a:solidFill>
                <a:latin typeface="Inter"/>
              </a:defRPr>
            </a:pPr>
            <a:r>
              <a:t>• Jeevamrutha Recipe: Microbe multiplier (dung, urine, jaggery) to restore soil organic carbon above 1.0%.</a:t>
            </a:r>
          </a:p>
          <a:p>
            <a:pPr>
              <a:spcAft>
                <a:spcPts val="1200"/>
              </a:spcAft>
              <a:defRPr sz="1400">
                <a:solidFill>
                  <a:srgbClr val="1E293B"/>
                </a:solidFill>
                <a:latin typeface="Inter"/>
              </a:defRPr>
            </a:pPr>
            <a:r>
              <a:t>• Biopesticides: Step-by-step guides for Neemastra, Agniastra, and Dashaparni Ark.</a:t>
            </a:r>
          </a:p>
          <a:p>
            <a:pPr>
              <a:spcAft>
                <a:spcPts val="1200"/>
              </a:spcAft>
              <a:defRPr sz="1400">
                <a:solidFill>
                  <a:srgbClr val="1E293B"/>
                </a:solidFill>
                <a:latin typeface="Inter"/>
              </a:defRPr>
            </a:pPr>
            <a:r>
              <a:t>• Local Setup &amp; Build: Compiles in 591ms for quick deployment on hosting services like Vercel.</a:t>
            </a:r>
          </a:p>
        </p:txBody>
      </p:sp>
      <p:pic>
        <p:nvPicPr>
          <p:cNvPr id="4" name="Picture 3" descr="natural_farming_preps.png"/>
          <p:cNvPicPr>
            <a:picLocks noChangeAspect="1"/>
          </p:cNvPicPr>
          <p:nvPr/>
        </p:nvPicPr>
        <p:blipFill>
          <a:blip r:embed="rId2"/>
          <a:stretch>
            <a:fillRect/>
          </a:stretch>
        </p:blipFill>
        <p:spPr>
          <a:xfrm>
            <a:off x="7315200" y="1645920"/>
            <a:ext cx="4114800" cy="4114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